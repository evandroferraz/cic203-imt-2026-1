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4" r:id="rId5"/>
    <p:sldId id="260" r:id="rId6"/>
    <p:sldId id="261" r:id="rId7"/>
    <p:sldId id="276" r:id="rId8"/>
    <p:sldId id="265" r:id="rId9"/>
    <p:sldId id="266" r:id="rId10"/>
    <p:sldId id="267" r:id="rId11"/>
    <p:sldId id="268" r:id="rId12"/>
    <p:sldId id="270" r:id="rId13"/>
    <p:sldId id="277" r:id="rId1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BBB57-7ADB-4EE4-8F19-7F6250734F59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51545-0191-4D80-AE11-FCA037E1F1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0212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F51545-0191-4D80-AE11-FCA037E1F150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2279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CDC7-2454-4DF3-A127-29F887AEBC68}" type="datetimeFigureOut">
              <a:rPr lang="pt-BR" smtClean="0"/>
              <a:pPr/>
              <a:t>22/04/2026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FE88-0AB6-483D-AF14-103B08D45C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CDC7-2454-4DF3-A127-29F887AEBC68}" type="datetimeFigureOut">
              <a:rPr lang="pt-BR" smtClean="0"/>
              <a:pPr/>
              <a:t>22/04/2026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FE88-0AB6-483D-AF14-103B08D45C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CDC7-2454-4DF3-A127-29F887AEBC68}" type="datetimeFigureOut">
              <a:rPr lang="pt-BR" smtClean="0"/>
              <a:pPr/>
              <a:t>22/04/2026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FE88-0AB6-483D-AF14-103B08D45C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CDC7-2454-4DF3-A127-29F887AEBC68}" type="datetimeFigureOut">
              <a:rPr lang="pt-BR" smtClean="0"/>
              <a:pPr/>
              <a:t>22/04/2026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FE88-0AB6-483D-AF14-103B08D45C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CDC7-2454-4DF3-A127-29F887AEBC68}" type="datetimeFigureOut">
              <a:rPr lang="pt-BR" smtClean="0"/>
              <a:pPr/>
              <a:t>22/04/2026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FE88-0AB6-483D-AF14-103B08D45C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CDC7-2454-4DF3-A127-29F887AEBC68}" type="datetimeFigureOut">
              <a:rPr lang="pt-BR" smtClean="0"/>
              <a:pPr/>
              <a:t>22/04/2026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FE88-0AB6-483D-AF14-103B08D45C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CDC7-2454-4DF3-A127-29F887AEBC68}" type="datetimeFigureOut">
              <a:rPr lang="pt-BR" smtClean="0"/>
              <a:pPr/>
              <a:t>22/04/2026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FE88-0AB6-483D-AF14-103B08D45C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CDC7-2454-4DF3-A127-29F887AEBC68}" type="datetimeFigureOut">
              <a:rPr lang="pt-BR" smtClean="0"/>
              <a:pPr/>
              <a:t>22/04/2026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FE88-0AB6-483D-AF14-103B08D45C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CDC7-2454-4DF3-A127-29F887AEBC68}" type="datetimeFigureOut">
              <a:rPr lang="pt-BR" smtClean="0"/>
              <a:pPr/>
              <a:t>22/04/2026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FE88-0AB6-483D-AF14-103B08D45C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CDC7-2454-4DF3-A127-29F887AEBC68}" type="datetimeFigureOut">
              <a:rPr lang="pt-BR" smtClean="0"/>
              <a:pPr/>
              <a:t>22/04/2026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FE88-0AB6-483D-AF14-103B08D45C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CDC7-2454-4DF3-A127-29F887AEBC68}" type="datetimeFigureOut">
              <a:rPr lang="pt-BR" smtClean="0"/>
              <a:pPr/>
              <a:t>22/04/2026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DFE88-0AB6-483D-AF14-103B08D45C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03CDC7-2454-4DF3-A127-29F887AEBC68}" type="datetimeFigureOut">
              <a:rPr lang="pt-BR" smtClean="0"/>
              <a:pPr/>
              <a:t>22/04/2026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DFE88-0AB6-483D-AF14-103B08D45CC9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Árvores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Árvores Binárias</a:t>
            </a:r>
          </a:p>
          <a:p>
            <a:endParaRPr lang="pt-BR" dirty="0"/>
          </a:p>
          <a:p>
            <a:r>
              <a:rPr lang="pt-BR" dirty="0"/>
              <a:t>Árvores Binárias de Busca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79512" y="1412776"/>
            <a:ext cx="4316288" cy="4968552"/>
          </a:xfrm>
        </p:spPr>
        <p:txBody>
          <a:bodyPr>
            <a:noAutofit/>
          </a:bodyPr>
          <a:lstStyle/>
          <a:p>
            <a:pPr algn="just"/>
            <a:r>
              <a:rPr lang="pt-BR" sz="1800" dirty="0"/>
              <a:t>A principal característica desta estrutura é a organização das informações, que se faz através de ramos. </a:t>
            </a:r>
          </a:p>
          <a:p>
            <a:pPr algn="just">
              <a:buNone/>
            </a:pPr>
            <a:br>
              <a:rPr lang="pt-BR" sz="1800" dirty="0"/>
            </a:br>
            <a:r>
              <a:rPr lang="pt-BR" sz="1800" b="1" dirty="0"/>
              <a:t>Definição</a:t>
            </a:r>
            <a:r>
              <a:rPr lang="pt-BR" sz="1800" dirty="0"/>
              <a:t>: Uma </a:t>
            </a:r>
            <a:r>
              <a:rPr lang="pt-BR" sz="1800" i="1" dirty="0"/>
              <a:t>árvore</a:t>
            </a:r>
            <a:r>
              <a:rPr lang="pt-BR" sz="1800" dirty="0"/>
              <a:t> é um conjunto finito de um ou mais nós tal que: </a:t>
            </a:r>
          </a:p>
          <a:p>
            <a:pPr lvl="1" algn="just"/>
            <a:r>
              <a:rPr lang="pt-BR" sz="1800" dirty="0"/>
              <a:t>Existe um nó especial denominado </a:t>
            </a:r>
            <a:r>
              <a:rPr lang="pt-BR" sz="1800" i="1" dirty="0"/>
              <a:t>raiz.</a:t>
            </a:r>
            <a:endParaRPr lang="pt-BR" sz="1800" dirty="0"/>
          </a:p>
          <a:p>
            <a:pPr lvl="1" algn="just"/>
            <a:r>
              <a:rPr lang="pt-BR" sz="1800" dirty="0"/>
              <a:t>Todo nó de uma árvore é a raiz de uma sub-árvore. 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19650" y="2710656"/>
            <a:ext cx="3695700" cy="230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Conceitos sobre Árvores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just"/>
            <a:r>
              <a:rPr lang="pt-BR" b="1" dirty="0"/>
              <a:t>Grau de um nó</a:t>
            </a:r>
            <a:r>
              <a:rPr lang="pt-BR" dirty="0"/>
              <a:t>: é o número de sub-árvores do nó. </a:t>
            </a:r>
          </a:p>
          <a:p>
            <a:pPr lvl="1" algn="just"/>
            <a:endParaRPr lang="pt-BR" dirty="0"/>
          </a:p>
          <a:p>
            <a:pPr algn="just"/>
            <a:r>
              <a:rPr lang="pt-BR" b="1" dirty="0"/>
              <a:t>Grau de uma árvore</a:t>
            </a:r>
            <a:r>
              <a:rPr lang="pt-BR" dirty="0"/>
              <a:t>: é o máximo grau dos nós na árvore. </a:t>
            </a:r>
          </a:p>
          <a:p>
            <a:pPr lvl="1" algn="just"/>
            <a:endParaRPr lang="pt-BR" dirty="0"/>
          </a:p>
          <a:p>
            <a:pPr algn="just"/>
            <a:r>
              <a:rPr lang="pt-BR" b="1" dirty="0"/>
              <a:t>Folhas de uma árvore</a:t>
            </a:r>
            <a:r>
              <a:rPr lang="pt-BR" dirty="0"/>
              <a:t>: são os nós de grau zero. </a:t>
            </a:r>
          </a:p>
          <a:p>
            <a:pPr lvl="1" algn="just"/>
            <a:endParaRPr lang="pt-BR" dirty="0"/>
          </a:p>
          <a:p>
            <a:pPr algn="just"/>
            <a:r>
              <a:rPr lang="pt-BR" b="1" dirty="0"/>
              <a:t>Filhos de um nó X</a:t>
            </a:r>
            <a:r>
              <a:rPr lang="pt-BR" dirty="0"/>
              <a:t>: são as raízes das sub-árvores do nó X. Neste caso X é o </a:t>
            </a:r>
            <a:r>
              <a:rPr lang="pt-BR" b="1" dirty="0"/>
              <a:t>Pai</a:t>
            </a:r>
            <a:r>
              <a:rPr lang="pt-BR" dirty="0"/>
              <a:t> de seus filhos. </a:t>
            </a:r>
          </a:p>
          <a:p>
            <a:pPr lvl="1" algn="just"/>
            <a:endParaRPr lang="pt-BR" dirty="0"/>
          </a:p>
          <a:p>
            <a:pPr algn="just"/>
            <a:r>
              <a:rPr lang="pt-BR" b="1" dirty="0"/>
              <a:t>Nível de um nó</a:t>
            </a:r>
            <a:r>
              <a:rPr lang="pt-BR" dirty="0"/>
              <a:t>: a raiz da árvore é dita estar no nível zero, se um nó está no nível </a:t>
            </a:r>
            <a:r>
              <a:rPr lang="pt-BR" i="1" dirty="0"/>
              <a:t>k</a:t>
            </a:r>
            <a:r>
              <a:rPr lang="pt-BR" dirty="0"/>
              <a:t>, seus filhos estão no nível </a:t>
            </a:r>
            <a:r>
              <a:rPr lang="pt-BR" i="1" dirty="0"/>
              <a:t>k+1</a:t>
            </a:r>
            <a:r>
              <a:rPr lang="pt-BR" dirty="0"/>
              <a:t>. </a:t>
            </a:r>
          </a:p>
          <a:p>
            <a:pPr lvl="1" algn="just"/>
            <a:endParaRPr lang="pt-BR" dirty="0"/>
          </a:p>
          <a:p>
            <a:pPr algn="just"/>
            <a:r>
              <a:rPr lang="pt-BR" b="1" dirty="0"/>
              <a:t>Altura ou profundidade de uma árvore</a:t>
            </a:r>
            <a:r>
              <a:rPr lang="pt-BR" dirty="0"/>
              <a:t>: é o nível máximo dos nós na árvore. </a:t>
            </a:r>
          </a:p>
          <a:p>
            <a:pPr lvl="1" algn="just"/>
            <a:endParaRPr lang="pt-BR" dirty="0"/>
          </a:p>
          <a:p>
            <a:pPr algn="just"/>
            <a:r>
              <a:rPr lang="pt-BR" b="1" dirty="0"/>
              <a:t>Ancestrais de um nó</a:t>
            </a:r>
            <a:r>
              <a:rPr lang="pt-BR" dirty="0"/>
              <a:t>: são todos os nós ao longo do caminho a partir da raiz até o nó.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Árvores Binárias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323528" y="1196752"/>
            <a:ext cx="4172272" cy="5589240"/>
          </a:xfrm>
        </p:spPr>
        <p:txBody>
          <a:bodyPr anchor="ctr">
            <a:normAutofit fontScale="62500" lnSpcReduction="20000"/>
          </a:bodyPr>
          <a:lstStyle/>
          <a:p>
            <a:pPr algn="just"/>
            <a:r>
              <a:rPr lang="pt-BR" dirty="0"/>
              <a:t>Uma </a:t>
            </a:r>
            <a:r>
              <a:rPr lang="pt-BR" b="1" i="1" dirty="0"/>
              <a:t>árvore binária </a:t>
            </a:r>
            <a:r>
              <a:rPr lang="pt-BR" dirty="0"/>
              <a:t>é um conjunto finito de elementos que está vazio ou é particionado em três subconjuntos.</a:t>
            </a:r>
          </a:p>
          <a:p>
            <a:pPr lvl="2" algn="just"/>
            <a:endParaRPr lang="pt-BR" dirty="0"/>
          </a:p>
          <a:p>
            <a:pPr algn="just"/>
            <a:r>
              <a:rPr lang="pt-BR" dirty="0"/>
              <a:t>O primeiro subconjunto contém um único elemento, chamado </a:t>
            </a:r>
            <a:r>
              <a:rPr lang="pt-BR" b="1" i="1" dirty="0"/>
              <a:t>raiz da árvore.</a:t>
            </a:r>
          </a:p>
          <a:p>
            <a:pPr lvl="2" algn="just"/>
            <a:endParaRPr lang="pt-BR" b="1" i="1" dirty="0"/>
          </a:p>
          <a:p>
            <a:pPr algn="just"/>
            <a:r>
              <a:rPr lang="pt-BR" dirty="0"/>
              <a:t>Os outros dois subconjuntos são em si mesmos árvores binárias, chamadas </a:t>
            </a:r>
            <a:r>
              <a:rPr lang="pt-BR" b="1" i="1" dirty="0"/>
              <a:t>subárvores esquerda </a:t>
            </a:r>
            <a:r>
              <a:rPr lang="pt-BR" dirty="0"/>
              <a:t>e </a:t>
            </a:r>
            <a:r>
              <a:rPr lang="pt-BR" b="1" i="1" dirty="0"/>
              <a:t>direita </a:t>
            </a:r>
            <a:r>
              <a:rPr lang="pt-BR" dirty="0"/>
              <a:t>da árvore original.</a:t>
            </a:r>
            <a:r>
              <a:rPr lang="pt-BR" b="1" i="1" dirty="0"/>
              <a:t> </a:t>
            </a:r>
          </a:p>
          <a:p>
            <a:pPr lvl="2" algn="just"/>
            <a:endParaRPr lang="pt-BR" b="1" i="1" dirty="0"/>
          </a:p>
          <a:p>
            <a:pPr algn="just"/>
            <a:r>
              <a:rPr lang="pt-BR" dirty="0"/>
              <a:t>Uma subárvore esquerda ou direita pode estar vazia.</a:t>
            </a:r>
          </a:p>
          <a:p>
            <a:pPr lvl="2" algn="just">
              <a:buNone/>
            </a:pPr>
            <a:r>
              <a:rPr lang="pt-BR" dirty="0"/>
              <a:t> </a:t>
            </a:r>
          </a:p>
          <a:p>
            <a:pPr algn="just"/>
            <a:r>
              <a:rPr lang="pt-BR" dirty="0"/>
              <a:t>Cada elemento de uma árvore binária é chamado </a:t>
            </a:r>
            <a:r>
              <a:rPr lang="pt-BR" i="1" dirty="0"/>
              <a:t>nó da árvore.</a:t>
            </a:r>
          </a:p>
          <a:p>
            <a:pPr lvl="2" algn="just"/>
            <a:endParaRPr lang="pt-BR" dirty="0"/>
          </a:p>
          <a:p>
            <a:pPr algn="just"/>
            <a:r>
              <a:rPr lang="pt-BR" b="1" dirty="0"/>
              <a:t>Propriedade:</a:t>
            </a:r>
            <a:r>
              <a:rPr lang="pt-BR" dirty="0"/>
              <a:t> O número máximo de nós no nível i de uma árvore binária é </a:t>
            </a:r>
            <a:br>
              <a:rPr lang="pt-BR" dirty="0"/>
            </a:br>
            <a:r>
              <a:rPr lang="pt-BR" dirty="0"/>
              <a:t>2</a:t>
            </a:r>
            <a:r>
              <a:rPr lang="pt-BR" baseline="30000" dirty="0"/>
              <a:t>i</a:t>
            </a:r>
            <a:r>
              <a:rPr lang="pt-BR" dirty="0"/>
              <a:t>.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9992" y="2442026"/>
            <a:ext cx="4554215" cy="2715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Representação implícita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323528" y="1600201"/>
            <a:ext cx="8363272" cy="1324743"/>
          </a:xfrm>
        </p:spPr>
        <p:txBody>
          <a:bodyPr>
            <a:normAutofit/>
          </a:bodyPr>
          <a:lstStyle/>
          <a:p>
            <a:pPr marL="457200" lvl="1" indent="0" algn="just">
              <a:buNone/>
            </a:pPr>
            <a:r>
              <a:rPr lang="pt-BR" sz="2400" dirty="0"/>
              <a:t>Se uma árvore binária completa com </a:t>
            </a:r>
            <a:r>
              <a:rPr lang="pt-BR" sz="2400" i="1" dirty="0"/>
              <a:t>n</a:t>
            </a:r>
            <a:r>
              <a:rPr lang="pt-BR" sz="2400" dirty="0"/>
              <a:t> nós é armazenada em um </a:t>
            </a:r>
            <a:r>
              <a:rPr lang="pt-BR" sz="2400" dirty="0" err="1"/>
              <a:t>array</a:t>
            </a:r>
            <a:r>
              <a:rPr lang="pt-BR" sz="2400" dirty="0"/>
              <a:t>, então para qualquer nó </a:t>
            </a:r>
            <a:r>
              <a:rPr lang="pt-BR" sz="2400" i="1" dirty="0"/>
              <a:t>i </a:t>
            </a:r>
            <a:r>
              <a:rPr lang="pt-BR" sz="2400" dirty="0"/>
              <a:t>(supondo que o </a:t>
            </a:r>
            <a:r>
              <a:rPr lang="pt-BR" sz="2400" dirty="0" err="1"/>
              <a:t>array</a:t>
            </a:r>
            <a:r>
              <a:rPr lang="pt-BR" sz="2400" dirty="0"/>
              <a:t> </a:t>
            </a:r>
            <a:r>
              <a:rPr lang="pt-BR" sz="2400" dirty="0" err="1"/>
              <a:t>começe</a:t>
            </a:r>
            <a:r>
              <a:rPr lang="pt-BR" sz="2400" dirty="0"/>
              <a:t> em 1)  temos:</a:t>
            </a:r>
          </a:p>
          <a:p>
            <a:pPr lvl="1"/>
            <a:endParaRPr lang="pt-BR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9773" y="3212977"/>
            <a:ext cx="8921511" cy="144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Representação implícita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2199" y="1600200"/>
            <a:ext cx="4479602" cy="4637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Arvore Binária de Busca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>
          <a:xfrm>
            <a:off x="323528" y="1600201"/>
            <a:ext cx="8640960" cy="3412976"/>
          </a:xfrm>
        </p:spPr>
        <p:txBody>
          <a:bodyPr/>
          <a:lstStyle/>
          <a:p>
            <a:endParaRPr lang="pt-BR" dirty="0"/>
          </a:p>
          <a:p>
            <a:pPr algn="just"/>
            <a:r>
              <a:rPr lang="pt-BR" sz="2800" dirty="0"/>
              <a:t>É uma árvore binária em que:</a:t>
            </a:r>
          </a:p>
          <a:p>
            <a:pPr marL="0" indent="0" algn="just">
              <a:buNone/>
            </a:pPr>
            <a:r>
              <a:rPr lang="pt-BR" sz="2800" dirty="0"/>
              <a:t>	</a:t>
            </a:r>
            <a:r>
              <a:rPr lang="pt-BR" sz="2800" b="1" dirty="0"/>
              <a:t>1-</a:t>
            </a:r>
            <a:r>
              <a:rPr lang="pt-BR" sz="2800" dirty="0"/>
              <a:t> O filho </a:t>
            </a:r>
            <a:r>
              <a:rPr lang="pt-BR" sz="2800" b="1" dirty="0"/>
              <a:t>esquerdo</a:t>
            </a:r>
            <a:r>
              <a:rPr lang="pt-BR" sz="2800" dirty="0"/>
              <a:t> de um nó é sempre </a:t>
            </a:r>
            <a:r>
              <a:rPr lang="pt-BR" sz="2800" b="1" dirty="0"/>
              <a:t>menor ou 	igual </a:t>
            </a:r>
            <a:r>
              <a:rPr lang="pt-BR" sz="2800" dirty="0"/>
              <a:t>ao pai;</a:t>
            </a:r>
          </a:p>
          <a:p>
            <a:pPr marL="0" indent="0" algn="just">
              <a:buNone/>
            </a:pPr>
            <a:r>
              <a:rPr lang="pt-BR" sz="2800" dirty="0"/>
              <a:t>	</a:t>
            </a:r>
            <a:r>
              <a:rPr lang="pt-BR" sz="2800" b="1" dirty="0"/>
              <a:t>2-</a:t>
            </a:r>
            <a:r>
              <a:rPr lang="pt-BR" sz="2800" dirty="0"/>
              <a:t> O filho direito de um nó é sempre </a:t>
            </a:r>
            <a:r>
              <a:rPr lang="pt-BR" sz="2800" b="1" dirty="0"/>
              <a:t>maior</a:t>
            </a:r>
            <a:r>
              <a:rPr lang="pt-BR" sz="2800" dirty="0"/>
              <a:t> que o 		pai.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APLICAÇÕES DE ÁRVORES BINÁRIAS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35969" y="1325562"/>
            <a:ext cx="8229600" cy="5257800"/>
          </a:xfrm>
        </p:spPr>
        <p:txBody>
          <a:bodyPr>
            <a:noAutofit/>
          </a:bodyPr>
          <a:lstStyle/>
          <a:p>
            <a:pPr algn="just"/>
            <a:r>
              <a:rPr lang="pt-BR" sz="2000" dirty="0"/>
              <a:t>Uma árvore binária é uma estrutura de dados útil quando precisam ser tomadas decisões bidirecionais em cada ponto de um processo. Por exemplo, encontrar todas as repetições numa lista de números.</a:t>
            </a:r>
          </a:p>
          <a:p>
            <a:pPr algn="just"/>
            <a:r>
              <a:rPr lang="pt-BR" sz="2000" dirty="0"/>
              <a:t>Uma maneira de fazer isso é comparar cada número com todos os que o precedem. Entretanto, isso envolve um grande número de comparações. O número de comparações pode ser reduzido usando-se uma árvore binária. </a:t>
            </a:r>
          </a:p>
          <a:p>
            <a:pPr lvl="1" algn="just"/>
            <a:r>
              <a:rPr lang="pt-BR" sz="2000" dirty="0"/>
              <a:t>O primeiro número na lista é colocado na raiz de uma árvore binária com as subárvores esquerda e direita vazias.</a:t>
            </a:r>
          </a:p>
          <a:p>
            <a:pPr lvl="1" algn="just"/>
            <a:r>
              <a:rPr lang="pt-BR" sz="2000" dirty="0"/>
              <a:t>Cada número sucessivo na lista é, então, comparado ao número na raiz. Se coincidirem, configura-se repetição.</a:t>
            </a:r>
          </a:p>
          <a:p>
            <a:pPr lvl="1" algn="just"/>
            <a:r>
              <a:rPr lang="pt-BR" sz="2000" dirty="0"/>
              <a:t>Se for menor, examina-se a subárvore esquerda; se for maior, examina-se a subárvore direita.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Percurso em Árvores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87302" y="1370186"/>
            <a:ext cx="8229600" cy="5213176"/>
          </a:xfrm>
        </p:spPr>
        <p:txBody>
          <a:bodyPr>
            <a:noAutofit/>
          </a:bodyPr>
          <a:lstStyle/>
          <a:p>
            <a:pPr algn="just"/>
            <a:r>
              <a:rPr lang="pt-BR" sz="2000" dirty="0"/>
              <a:t>Outra operação comum é percorrer uma árvore binária, ou seja, percorrer a árvore enumerando cada um de seus nós uma vez.</a:t>
            </a:r>
          </a:p>
          <a:p>
            <a:pPr algn="just"/>
            <a:r>
              <a:rPr lang="pt-BR" sz="2000" dirty="0"/>
              <a:t>Pode-se simplesmente querer imprimir o conteúdo de cada nó ao enumerá-lo, ou pode-se processá-lo de alguma maneira. Seja qual for o caso, visita-se cada um dos nós à medida que são enumerados.</a:t>
            </a:r>
          </a:p>
          <a:p>
            <a:pPr algn="just"/>
            <a:r>
              <a:rPr lang="pt-BR" sz="2000" dirty="0"/>
              <a:t>Entretanto, não existe uma ordem "natural" para os nós de uma árvore. Sendo assim, são usados diferentes ordenamentos de percurso em diferentes casos.</a:t>
            </a:r>
          </a:p>
          <a:p>
            <a:pPr algn="just"/>
            <a:r>
              <a:rPr lang="pt-BR" sz="2000" dirty="0"/>
              <a:t>Definem-se  três desses métodos de percurso. Em cada um desses métodos, não é preciso fazer nada para percorrer uma árvore binária vazia.</a:t>
            </a:r>
          </a:p>
          <a:p>
            <a:pPr algn="just"/>
            <a:r>
              <a:rPr lang="pt-BR" sz="2000" dirty="0"/>
              <a:t>Todos os métodos são definidos recursivamente, de modo que percorrer uma árvore binária envolve visitar a raiz e percorrer suas subárvores esquerda e direita. </a:t>
            </a:r>
          </a:p>
          <a:p>
            <a:pPr algn="just"/>
            <a:r>
              <a:rPr lang="pt-BR" sz="2000" b="1" dirty="0"/>
              <a:t>A única diferença entre os métodos é a ordem na qual essas três operações são efetuadas.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Pré-ordem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800" dirty="0"/>
              <a:t>Para percorrer uma árvore binária não-vazia </a:t>
            </a:r>
            <a:r>
              <a:rPr lang="pt-BR" sz="2800" i="1" dirty="0"/>
              <a:t>em </a:t>
            </a:r>
            <a:r>
              <a:rPr lang="pt-BR" sz="2800" i="1" dirty="0" err="1"/>
              <a:t>pré</a:t>
            </a:r>
            <a:r>
              <a:rPr lang="pt-BR" sz="2800" i="1" dirty="0"/>
              <a:t>-ordem, </a:t>
            </a:r>
            <a:r>
              <a:rPr lang="pt-BR" sz="2800" dirty="0"/>
              <a:t>efetuam-se as três operações na seguinte ordem: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pt-BR" sz="2800" dirty="0"/>
              <a:t>Visita-se a raiz.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pt-BR" sz="2800" dirty="0"/>
              <a:t>Percorre-se a </a:t>
            </a:r>
            <a:r>
              <a:rPr lang="pt-BR" sz="2800" dirty="0" err="1"/>
              <a:t>subárvore</a:t>
            </a:r>
            <a:r>
              <a:rPr lang="pt-BR" sz="2800" dirty="0"/>
              <a:t> esquerda.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pt-BR" sz="2800" dirty="0"/>
              <a:t>Percorre-se a </a:t>
            </a:r>
            <a:r>
              <a:rPr lang="pt-BR" sz="2800" dirty="0" err="1"/>
              <a:t>subárvore</a:t>
            </a:r>
            <a:r>
              <a:rPr lang="pt-BR" sz="2800" dirty="0"/>
              <a:t> direita.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4"/>
          <p:cNvSpPr>
            <a:spLocks noGrp="1"/>
          </p:cNvSpPr>
          <p:nvPr>
            <p:ph sz="half" idx="1"/>
          </p:nvPr>
        </p:nvSpPr>
        <p:spPr>
          <a:xfrm>
            <a:off x="457200" y="620688"/>
            <a:ext cx="4038600" cy="5505475"/>
          </a:xfrm>
        </p:spPr>
        <p:txBody>
          <a:bodyPr>
            <a:normAutofit/>
          </a:bodyPr>
          <a:lstStyle/>
          <a:p>
            <a:r>
              <a:rPr lang="pt-BR" b="1" i="1" dirty="0"/>
              <a:t>Em ordem (ou ordem simétrica):</a:t>
            </a:r>
          </a:p>
          <a:p>
            <a:pPr marL="514350" indent="-514350">
              <a:buFont typeface="+mj-lt"/>
              <a:buAutoNum type="arabicPeriod"/>
            </a:pP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Percorre-se a </a:t>
            </a:r>
            <a:r>
              <a:rPr lang="pt-BR" dirty="0" err="1"/>
              <a:t>subárvore</a:t>
            </a:r>
            <a:r>
              <a:rPr lang="pt-BR" dirty="0"/>
              <a:t> esquerda.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Visita-se a raiz.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Percorre-se a </a:t>
            </a:r>
            <a:r>
              <a:rPr lang="pt-BR" dirty="0" err="1"/>
              <a:t>subárvore</a:t>
            </a:r>
            <a:r>
              <a:rPr lang="pt-BR" dirty="0"/>
              <a:t> direita.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half" idx="2"/>
          </p:nvPr>
        </p:nvSpPr>
        <p:spPr>
          <a:xfrm>
            <a:off x="4648200" y="620688"/>
            <a:ext cx="4038600" cy="5577483"/>
          </a:xfrm>
        </p:spPr>
        <p:txBody>
          <a:bodyPr>
            <a:normAutofit/>
          </a:bodyPr>
          <a:lstStyle/>
          <a:p>
            <a:r>
              <a:rPr lang="pt-BR" b="1" i="1" dirty="0"/>
              <a:t>Em pós-ordem:</a:t>
            </a:r>
          </a:p>
          <a:p>
            <a:pPr marL="514350" indent="-514350">
              <a:buFont typeface="+mj-lt"/>
              <a:buAutoNum type="arabicPeriod"/>
            </a:pPr>
            <a:endParaRPr lang="pt-BR" dirty="0"/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 Percorre-se a </a:t>
            </a:r>
            <a:r>
              <a:rPr lang="pt-BR" dirty="0" err="1"/>
              <a:t>subárvore</a:t>
            </a:r>
            <a:r>
              <a:rPr lang="pt-BR" dirty="0"/>
              <a:t> esquerda.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Percorre-se a </a:t>
            </a:r>
            <a:r>
              <a:rPr lang="pt-BR" dirty="0" err="1"/>
              <a:t>subárvore</a:t>
            </a:r>
            <a:r>
              <a:rPr lang="pt-BR" dirty="0"/>
              <a:t> direita.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/>
              <a:t>Visita-se a raiz.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Binária de Busca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66656" y="1600200"/>
            <a:ext cx="8229599" cy="4525963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Uma árvore </a:t>
            </a:r>
            <a:r>
              <a:rPr lang="pt-BR" b="1" dirty="0"/>
              <a:t>binária de busca </a:t>
            </a:r>
            <a:r>
              <a:rPr lang="pt-BR" dirty="0"/>
              <a:t>tem a propriedade de todos os elementos na </a:t>
            </a:r>
            <a:r>
              <a:rPr lang="pt-BR" dirty="0" err="1"/>
              <a:t>subárvore</a:t>
            </a:r>
            <a:r>
              <a:rPr lang="pt-BR" dirty="0"/>
              <a:t> </a:t>
            </a:r>
            <a:r>
              <a:rPr lang="pt-BR" b="1" dirty="0"/>
              <a:t>esquerda</a:t>
            </a:r>
            <a:r>
              <a:rPr lang="pt-BR" dirty="0"/>
              <a:t> de um nó </a:t>
            </a:r>
            <a:r>
              <a:rPr lang="pt-BR" i="1" dirty="0"/>
              <a:t>n </a:t>
            </a:r>
            <a:r>
              <a:rPr lang="pt-BR" dirty="0"/>
              <a:t>serem</a:t>
            </a:r>
            <a:r>
              <a:rPr lang="pt-BR" i="1" dirty="0"/>
              <a:t> </a:t>
            </a:r>
            <a:r>
              <a:rPr lang="pt-BR" b="1" i="1" dirty="0"/>
              <a:t>menores ou iguais </a:t>
            </a:r>
            <a:r>
              <a:rPr lang="pt-BR" dirty="0"/>
              <a:t>ao conteúdo de </a:t>
            </a:r>
            <a:r>
              <a:rPr lang="pt-BR" i="1" dirty="0"/>
              <a:t>n</a:t>
            </a:r>
            <a:r>
              <a:rPr lang="pt-BR" dirty="0"/>
              <a:t>, e todos os elementos na </a:t>
            </a:r>
            <a:r>
              <a:rPr lang="pt-BR" dirty="0" err="1"/>
              <a:t>subárvore</a:t>
            </a:r>
            <a:r>
              <a:rPr lang="pt-BR" dirty="0"/>
              <a:t> </a:t>
            </a:r>
            <a:r>
              <a:rPr lang="pt-BR" b="1" dirty="0"/>
              <a:t>direita</a:t>
            </a:r>
            <a:r>
              <a:rPr lang="pt-BR" dirty="0"/>
              <a:t> de </a:t>
            </a:r>
            <a:r>
              <a:rPr lang="pt-BR" i="1" dirty="0"/>
              <a:t>n</a:t>
            </a:r>
            <a:r>
              <a:rPr lang="pt-BR" dirty="0"/>
              <a:t> serem </a:t>
            </a:r>
            <a:r>
              <a:rPr lang="pt-BR" b="1" i="1" dirty="0"/>
              <a:t>maiores </a:t>
            </a:r>
            <a:r>
              <a:rPr lang="pt-BR" dirty="0"/>
              <a:t>que o conteúdo de </a:t>
            </a:r>
            <a:r>
              <a:rPr lang="pt-BR" i="1" dirty="0"/>
              <a:t>n.</a:t>
            </a:r>
            <a:endParaRPr lang="pt-B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Árvore Binária de Busca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66656" y="1556792"/>
            <a:ext cx="4333336" cy="4525963"/>
          </a:xfrm>
        </p:spPr>
        <p:txBody>
          <a:bodyPr>
            <a:normAutofit/>
          </a:bodyPr>
          <a:lstStyle/>
          <a:p>
            <a:pPr algn="just"/>
            <a:r>
              <a:rPr lang="pt-BR" sz="2200" dirty="0"/>
              <a:t>Se uma árvore binária de busca for percorrida em ordem simétrica (esquerda, raiz, direita) e o conteúdo de cada nó for impresso à medida que o nó for visitado, os números serão impressos em ordem crescente.</a:t>
            </a:r>
          </a:p>
          <a:p>
            <a:pPr algn="just"/>
            <a:endParaRPr lang="pt-BR" sz="2200" dirty="0"/>
          </a:p>
          <a:p>
            <a:pPr algn="just"/>
            <a:r>
              <a:rPr lang="pt-BR" sz="2200" dirty="0"/>
              <a:t>A Figura ao lado ilustra uma árvore binária de busca.</a:t>
            </a:r>
          </a:p>
        </p:txBody>
      </p:sp>
      <p:pic>
        <p:nvPicPr>
          <p:cNvPr id="1028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9992" y="2028598"/>
            <a:ext cx="4521460" cy="3305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371122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1132</TotalTime>
  <Words>846</Words>
  <Application>Microsoft Office PowerPoint</Application>
  <PresentationFormat>Apresentação na tela (4:3)</PresentationFormat>
  <Paragraphs>78</Paragraphs>
  <Slides>13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Calibri</vt:lpstr>
      <vt:lpstr>Tema do Office</vt:lpstr>
      <vt:lpstr>Árvores</vt:lpstr>
      <vt:lpstr>Árvores</vt:lpstr>
      <vt:lpstr>Conceitos sobre Árvores</vt:lpstr>
      <vt:lpstr>Árvores Binárias</vt:lpstr>
      <vt:lpstr>Representação implícita</vt:lpstr>
      <vt:lpstr>Representação implícita</vt:lpstr>
      <vt:lpstr>Arvore Binária de Busca</vt:lpstr>
      <vt:lpstr>APLICAÇÕES DE ÁRVORES BINÁRIAS</vt:lpstr>
      <vt:lpstr>Percurso em Árvores</vt:lpstr>
      <vt:lpstr>Pré-ordem</vt:lpstr>
      <vt:lpstr>Apresentação do PowerPoint</vt:lpstr>
      <vt:lpstr>Árvore Binária de Busca</vt:lpstr>
      <vt:lpstr>Árvore Binária de Busca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Árvores</dc:title>
  <dc:creator>Andreia</dc:creator>
  <cp:lastModifiedBy>EVANDRO CATELANI FERRAZ</cp:lastModifiedBy>
  <cp:revision>89</cp:revision>
  <dcterms:created xsi:type="dcterms:W3CDTF">2010-11-12T19:39:24Z</dcterms:created>
  <dcterms:modified xsi:type="dcterms:W3CDTF">2026-04-22T15:56:03Z</dcterms:modified>
</cp:coreProperties>
</file>