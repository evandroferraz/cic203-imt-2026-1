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3" r:id="rId3"/>
    <p:sldId id="265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634BB-43F8-41BF-AD12-3CFB8FB97492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E67C2-2BC5-4339-9175-B2B67318FC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579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E67C2-2BC5-4339-9175-B2B67318FC8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959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63DEE-2B59-D11A-E890-F51D0A156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7C2D53-1025-6AAE-DE0B-E0FEBA3FE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9AE789-AC70-BCAA-4801-55F045AC0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99B9B1-6212-AD68-85CF-3922E5F12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8F3A00-D56E-7974-2749-265CFA524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65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74FEC-89AB-54CD-FF31-B9C1BA977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8C9115-F2ED-F9AE-09C0-1D222E3B8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5B0983-BDA8-3EA8-D831-EF2A5940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9A53DB-629C-CCEB-AC12-65607C352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469475-A4F8-A6A2-FD9C-4200B1876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4298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BCB50-F967-664F-8777-B30275495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0A5345-BDD0-A6CF-00C4-065FF93DA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165468-FDF4-36C3-2796-D34AB292A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8420E7-302D-8507-4769-7BBADD4CD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05673D-9825-A2E7-A996-A81EA753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7738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D4918-D333-486A-052E-721789DF6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8800D8-A0EF-D676-42A5-22C8D2DAA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CBA3A6-F1A1-735B-A876-640A5924A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90ED86-31A7-0D1A-DC66-3E01C298A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F7F012-DD68-A3DB-96B2-94EEA47C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24A1D0-16F7-BDD0-3523-AC114575D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0905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EF7BD7-5DAF-3650-8323-EAC87F665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CA85D0-71CD-2DF6-9FCE-9D21EB2DE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CC0BF7-F272-1628-B1DA-647CFE8C4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5203CF6-439D-BD37-1650-0216E9D0C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CDF5A7-0BE4-7FC7-9FEE-A6D0F5413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1F0F69C-9078-B461-AAEA-F736A353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765A308-AE16-EEAD-6F63-2BFB1B29C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C9F770-0ADE-A808-4C03-7FE5E8786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55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9048B-2616-23F9-CD83-17C4ADB9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95B0E35-FDC8-A480-6602-49903664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3C26ABB-FB19-552F-CF87-67988ABC2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A01BD08-777A-6B4B-F11C-756E385C1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619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A870A1-AD63-A9B5-30AA-AC625CB0D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3800C0-FDA3-BE09-F12E-8746C877D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96681B-28AD-1230-B9C3-7437F0A6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025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A3BA6-A395-7661-D87F-5B3844F1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DE55EC-7FD7-95FD-F82A-2E15390DF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5FF9CC-7C01-A640-F26B-631A05CE5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2CD52E-AFB3-7BB9-77B8-DAC3E44C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695FEF-2E72-9F9E-2949-89D05AAA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AF108F-FF59-E527-A8EB-BB1E5B13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618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A7ACB-4546-478B-3B52-BA15C6BE1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FA7E330-9FD9-60A5-4122-BD769A825E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439E46-CF64-91D1-533B-650A86D2F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54137F-5A82-4442-97C1-3C8756F8A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27360B-71CB-6FBF-E1BD-00495DF5F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40C50D-00C1-3B19-1364-7614DE50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343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6C74A-BBCA-5286-4879-EACE7274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865F5E-7155-3D9C-3B49-0596FA8BC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48EB88-9161-E003-0318-D5D9D6D94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EFCBA7-F1E3-9FB2-8751-431451938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1D631F-5290-41CC-43D8-19CD1237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490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79F88B-E817-80EF-A8DD-222DD53444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ACE327-4FB8-7CCC-6962-C2D31E591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96CD61-F93F-257B-328A-16A145C77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AFCA00-020C-F526-244C-656944C4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9DF7CB-3BA1-BBB3-F356-127A0643D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57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8577D00-6511-F354-AD6F-7C63F5CC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B67735-522D-66A8-9551-2D99C9302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0B9F15-297C-24BD-820F-99EDDCE3C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F54D8B-C24E-4A38-872C-51AE8AAB1596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B1A380-787F-CE29-B320-358749165D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4DC9BE-EFB7-E81A-718D-EAF20B6D9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74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5611B-C236-D326-1D7B-2960C6F337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Recursão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643F40-D63D-3977-B011-D181CAC4B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chamada de uma função por ela mesma</a:t>
            </a:r>
          </a:p>
        </p:txBody>
      </p:sp>
    </p:spTree>
    <p:extLst>
      <p:ext uri="{BB962C8B-B14F-4D97-AF65-F5344CB8AC3E}">
        <p14:creationId xmlns:p14="http://schemas.microsoft.com/office/powerpoint/2010/main" val="337217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E57F5-015E-5C82-D1F0-D946DA35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Utilização - Laços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8E44BD-7D3D-B99C-B430-13F0C3E9F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756769" cy="4351338"/>
          </a:xfrm>
        </p:spPr>
        <p:txBody>
          <a:bodyPr/>
          <a:lstStyle/>
          <a:p>
            <a:pPr algn="just"/>
            <a:r>
              <a:rPr lang="pt-BR" b="1" dirty="0"/>
              <a:t>Iteração Simples: </a:t>
            </a:r>
            <a:r>
              <a:rPr lang="pt-BR" dirty="0"/>
              <a:t>Se você precisa executar uma operação um número fixo de vezes ou percorrer uma coleção de elementos, como uma lista ou </a:t>
            </a:r>
            <a:r>
              <a:rPr lang="pt-BR" dirty="0" err="1"/>
              <a:t>array</a:t>
            </a:r>
            <a:r>
              <a:rPr lang="pt-BR" dirty="0"/>
              <a:t>, um loop é geralmente a escolha mais direta e eficiente.</a:t>
            </a:r>
          </a:p>
          <a:p>
            <a:pPr algn="just"/>
            <a:r>
              <a:rPr lang="pt-BR" dirty="0"/>
              <a:t>Exemplo:</a:t>
            </a:r>
          </a:p>
          <a:p>
            <a:pPr algn="just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9FAE8B9-B395-032B-51B0-75417ECF4915}"/>
              </a:ext>
            </a:extLst>
          </p:cNvPr>
          <p:cNvSpPr/>
          <p:nvPr/>
        </p:nvSpPr>
        <p:spPr>
          <a:xfrm>
            <a:off x="2696066" y="3429001"/>
            <a:ext cx="5948313" cy="21328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16A41F-23E4-57F3-E9B3-C7315C26CBA0}"/>
              </a:ext>
            </a:extLst>
          </p:cNvPr>
          <p:cNvSpPr txBox="1"/>
          <p:nvPr/>
        </p:nvSpPr>
        <p:spPr>
          <a:xfrm>
            <a:off x="2820971" y="3552715"/>
            <a:ext cx="851004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Imprimir os números de 1 a 10</a:t>
            </a:r>
            <a:endParaRPr lang="pt-BR" sz="2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pt-BR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pt-BR" sz="24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i = </a:t>
            </a:r>
            <a:r>
              <a:rPr lang="pt-BR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pt-BR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i &lt;= </a:t>
            </a:r>
            <a:r>
              <a:rPr lang="pt-BR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pt-BR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i++) {</a:t>
            </a:r>
          </a:p>
          <a:p>
            <a:r>
              <a:rPr lang="pt-BR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print(i);</a:t>
            </a:r>
          </a:p>
          <a:p>
            <a:r>
              <a:rPr lang="pt-BR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12895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E57F5-015E-5C82-D1F0-D946DA35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Utilização - Recursão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8E44BD-7D3D-B99C-B430-13F0C3E9F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756769" cy="4351338"/>
          </a:xfrm>
        </p:spPr>
        <p:txBody>
          <a:bodyPr/>
          <a:lstStyle/>
          <a:p>
            <a:pPr algn="just"/>
            <a:r>
              <a:rPr lang="pt-BR" b="1" dirty="0"/>
              <a:t>Problemas Divididos em Subproblemas Menores: </a:t>
            </a:r>
            <a:r>
              <a:rPr lang="pt-BR" dirty="0"/>
              <a:t>Em problemas onde a solução pode ser decomposta em subproblemas menores do mesmo tipo, a recursão é recomendada.</a:t>
            </a:r>
          </a:p>
          <a:p>
            <a:pPr algn="just"/>
            <a:r>
              <a:rPr lang="pt-BR" dirty="0"/>
              <a:t>Exemplo: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1AFF572-00F5-07FE-6B8B-DE747923AB3B}"/>
              </a:ext>
            </a:extLst>
          </p:cNvPr>
          <p:cNvSpPr/>
          <p:nvPr/>
        </p:nvSpPr>
        <p:spPr>
          <a:xfrm>
            <a:off x="2724347" y="3117916"/>
            <a:ext cx="8748074" cy="2217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9A90134-7555-A3ED-24BE-3E0C4BCCE745}"/>
              </a:ext>
            </a:extLst>
          </p:cNvPr>
          <p:cNvSpPr txBox="1"/>
          <p:nvPr/>
        </p:nvSpPr>
        <p:spPr>
          <a:xfrm>
            <a:off x="2849252" y="3241630"/>
            <a:ext cx="8510047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Calcular o fatorial de um número de forma recursiva</a:t>
            </a:r>
            <a:endParaRPr lang="pt-BR" sz="22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fat (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n) {</a:t>
            </a:r>
          </a:p>
          <a:p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(n &lt;= </a:t>
            </a:r>
            <a:r>
              <a:rPr lang="en-US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n * fat(n-</a:t>
            </a:r>
            <a:r>
              <a:rPr lang="en-US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400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DE9FF-55B0-C223-4CE2-B771141CA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969" y="0"/>
            <a:ext cx="10515600" cy="1325563"/>
          </a:xfrm>
        </p:spPr>
        <p:txBody>
          <a:bodyPr/>
          <a:lstStyle/>
          <a:p>
            <a:r>
              <a:rPr lang="pt-BR" dirty="0"/>
              <a:t>Lógica do Fatorial com Recursão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B95C728-16B5-4A4F-47E1-AF4D2D3D9F78}"/>
              </a:ext>
            </a:extLst>
          </p:cNvPr>
          <p:cNvSpPr/>
          <p:nvPr/>
        </p:nvSpPr>
        <p:spPr>
          <a:xfrm>
            <a:off x="454258" y="3751198"/>
            <a:ext cx="5048722" cy="24204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5971AD5-38CB-62D9-4C1C-98ACEA4D989F}"/>
              </a:ext>
            </a:extLst>
          </p:cNvPr>
          <p:cNvSpPr txBox="1"/>
          <p:nvPr/>
        </p:nvSpPr>
        <p:spPr>
          <a:xfrm>
            <a:off x="517973" y="3863312"/>
            <a:ext cx="49850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fat (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n) {</a:t>
            </a:r>
          </a:p>
          <a:p>
            <a:r>
              <a:rPr lang="pt-BR" sz="2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2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Parte1: Caso Base</a:t>
            </a:r>
            <a:endParaRPr lang="en-US" sz="22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(n &lt;= </a:t>
            </a:r>
            <a:r>
              <a:rPr lang="en-US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Parte2: Recursividade</a:t>
            </a:r>
            <a:endParaRPr lang="en-US" sz="2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n * fat(n-</a:t>
            </a:r>
            <a:r>
              <a:rPr lang="en-US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483D3A9-6E48-AE0F-FF80-CC5E21F0A1CF}"/>
              </a:ext>
            </a:extLst>
          </p:cNvPr>
          <p:cNvSpPr txBox="1"/>
          <p:nvPr/>
        </p:nvSpPr>
        <p:spPr>
          <a:xfrm>
            <a:off x="195123" y="1845883"/>
            <a:ext cx="468796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Fat(n) = </a:t>
            </a:r>
          </a:p>
          <a:p>
            <a:pPr lvl="1"/>
            <a:r>
              <a:rPr lang="pt-BR" sz="2800" dirty="0"/>
              <a:t>1, se n &lt;= 1</a:t>
            </a:r>
          </a:p>
          <a:p>
            <a:pPr lvl="1"/>
            <a:r>
              <a:rPr lang="pt-BR" sz="2800" dirty="0"/>
              <a:t>n * Fat(n-1), se n&gt;1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E57F2BE-791D-4051-A400-1A45CD2AC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619" y="1493992"/>
            <a:ext cx="6356270" cy="436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524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4DA1D1-01F6-66A5-9D7E-3BA1A58C8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Fib</a:t>
            </a:r>
            <a:r>
              <a:rPr lang="pt-BR" dirty="0"/>
              <a:t>(n) = </a:t>
            </a:r>
          </a:p>
          <a:p>
            <a:pPr lvl="1"/>
            <a:r>
              <a:rPr lang="pt-BR" dirty="0"/>
              <a:t>1, se n&lt;=1</a:t>
            </a:r>
          </a:p>
          <a:p>
            <a:pPr lvl="1"/>
            <a:r>
              <a:rPr lang="pt-BR" dirty="0" err="1"/>
              <a:t>Fib</a:t>
            </a:r>
            <a:r>
              <a:rPr lang="pt-BR" dirty="0"/>
              <a:t>(n-1) + </a:t>
            </a:r>
            <a:r>
              <a:rPr lang="pt-BR" dirty="0" err="1"/>
              <a:t>Fib</a:t>
            </a:r>
            <a:r>
              <a:rPr lang="pt-BR" dirty="0"/>
              <a:t>(n-2)</a:t>
            </a:r>
          </a:p>
          <a:p>
            <a:pPr lvl="1"/>
            <a:endParaRPr lang="pt-BR" dirty="0"/>
          </a:p>
          <a:p>
            <a:endParaRPr lang="pt-BR" sz="2400" dirty="0"/>
          </a:p>
        </p:txBody>
      </p:sp>
      <p:pic>
        <p:nvPicPr>
          <p:cNvPr id="1028" name="Picture 4" descr="Mas o que car@%!0$ é Programação Dinâmica? | by Pedro Souza | Medium">
            <a:extLst>
              <a:ext uri="{FF2B5EF4-FFF2-40B4-BE49-F238E27FC236}">
                <a16:creationId xmlns:a16="http://schemas.microsoft.com/office/drawing/2014/main" id="{F699069E-26F8-F939-E2CF-2510C6BE1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522" y="2639505"/>
            <a:ext cx="7346559" cy="323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38F1449-5B03-2200-B057-7ADA0F8FD9DF}"/>
              </a:ext>
            </a:extLst>
          </p:cNvPr>
          <p:cNvSpPr/>
          <p:nvPr/>
        </p:nvSpPr>
        <p:spPr>
          <a:xfrm>
            <a:off x="195123" y="3799763"/>
            <a:ext cx="4278399" cy="12910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373FA13-E275-6CA6-8261-9CEE31C13776}"/>
              </a:ext>
            </a:extLst>
          </p:cNvPr>
          <p:cNvSpPr txBox="1"/>
          <p:nvPr/>
        </p:nvSpPr>
        <p:spPr>
          <a:xfrm>
            <a:off x="272592" y="3845128"/>
            <a:ext cx="4365395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pt-BR" sz="1800" kern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fib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800" kern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n){</a:t>
            </a:r>
            <a:endParaRPr lang="pt-BR" sz="1800" kern="1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pt-BR" sz="1800" kern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(n &lt;= </a:t>
            </a:r>
            <a:r>
              <a:rPr lang="pt-BR" sz="1800" kern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800" kern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kern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t-BR" sz="1800" kern="1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pt-BR" sz="1800" kern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fib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(n-</a:t>
            </a:r>
            <a:r>
              <a:rPr lang="pt-BR" sz="1800" kern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pt-BR" sz="18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fib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(n-</a:t>
            </a:r>
            <a:r>
              <a:rPr lang="pt-BR" sz="1800" kern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t-BR" sz="1800" kern="1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BR" sz="1800" kern="1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7EB3D17-B5B9-DE5C-0C16-3D5A31841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969" y="0"/>
            <a:ext cx="10515600" cy="1325563"/>
          </a:xfrm>
        </p:spPr>
        <p:txBody>
          <a:bodyPr/>
          <a:lstStyle/>
          <a:p>
            <a:r>
              <a:rPr lang="pt-BR" dirty="0"/>
              <a:t>Lógica de Fibonacci com Recursão</a:t>
            </a:r>
          </a:p>
        </p:txBody>
      </p:sp>
    </p:spTree>
    <p:extLst>
      <p:ext uri="{BB962C8B-B14F-4D97-AF65-F5344CB8AC3E}">
        <p14:creationId xmlns:p14="http://schemas.microsoft.com/office/powerpoint/2010/main" val="19409850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287</Words>
  <Application>Microsoft Office PowerPoint</Application>
  <PresentationFormat>Widescreen</PresentationFormat>
  <Paragraphs>36</Paragraphs>
  <Slides>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Consolas</vt:lpstr>
      <vt:lpstr>Tema do Office</vt:lpstr>
      <vt:lpstr>Recursão</vt:lpstr>
      <vt:lpstr>Exemplo de Utilização - Laços</vt:lpstr>
      <vt:lpstr>Exemplos de Utilização - Recursão</vt:lpstr>
      <vt:lpstr>Lógica do Fatorial com Recursão</vt:lpstr>
      <vt:lpstr>Lógica de Fibonacci com Recursão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Recursão</dc:title>
  <dc:creator>ANDREIA CRISTINA GRISOLIO MACHION</dc:creator>
  <cp:lastModifiedBy>Evandro</cp:lastModifiedBy>
  <cp:revision>9</cp:revision>
  <dcterms:created xsi:type="dcterms:W3CDTF">2024-04-15T14:37:12Z</dcterms:created>
  <dcterms:modified xsi:type="dcterms:W3CDTF">2026-03-25T15:49:25Z</dcterms:modified>
</cp:coreProperties>
</file>