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"/>
  </p:notesMasterIdLst>
  <p:sldIdLst>
    <p:sldId id="256" r:id="rId2"/>
    <p:sldId id="263" r:id="rId3"/>
    <p:sldId id="265" r:id="rId4"/>
    <p:sldId id="259" r:id="rId5"/>
    <p:sldId id="260" r:id="rId6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81" d="100"/>
          <a:sy n="81" d="100"/>
        </p:scale>
        <p:origin x="754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15634BB-43F8-41BF-AD12-3CFB8FB97492}" type="datetimeFigureOut">
              <a:rPr lang="pt-BR" smtClean="0"/>
              <a:t>23/03/2026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90E67C2-2BC5-4339-9175-B2B67318FC8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2579134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90E67C2-2BC5-4339-9175-B2B67318FC88}" type="slidenum">
              <a:rPr lang="pt-BR" smtClean="0"/>
              <a:t>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5795921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4B63DEE-2B59-D11A-E890-F51D0A15629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2D7C2D53-1025-6AAE-DE0B-E0FEBA3FEBB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49AE789-AC70-BCAA-4801-55F045AC0F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F54D8B-C24E-4A38-872C-51AE8AAB1596}" type="datetimeFigureOut">
              <a:rPr lang="pt-BR" smtClean="0"/>
              <a:t>23/03/2026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9D99B9B1-6212-AD68-85CF-3922E5F12C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E28F3A00-D56E-7974-2749-265CFA5245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1E0F8-E50F-4610-ADCF-1B515671432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29654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2E74FEC-89AB-54CD-FF31-B9C1BA977B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E68C9115-F2ED-F9AE-09C0-1D222E3B89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D55B0983-BDA8-3EA8-D831-EF2A594038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F54D8B-C24E-4A38-872C-51AE8AAB1596}" type="datetimeFigureOut">
              <a:rPr lang="pt-BR" smtClean="0"/>
              <a:t>23/03/2026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729A53DB-629C-CCEB-AC12-65607C3527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72469475-A4F8-A6A2-FD9C-4200B18763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1E0F8-E50F-4610-ADCF-1B515671432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942984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62BCB50-F967-664F-8777-B302754953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BE0A5345-BDD0-A6CF-00C4-065FF93DADA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C4165468-FDF4-36C3-2796-D34AB292A1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F54D8B-C24E-4A38-872C-51AE8AAB1596}" type="datetimeFigureOut">
              <a:rPr lang="pt-BR" smtClean="0"/>
              <a:t>23/03/2026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E8420E7-302D-8507-4769-7BBADD4CDA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9405673D-9825-A2E7-A996-A81EA75309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1E0F8-E50F-4610-ADCF-1B515671432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877389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62D4918-D333-486A-052E-721789DF6C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18800D8-A0EF-D676-42A5-22C8D2DAACC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27CBA3A6-F1A1-735B-A876-640A5924A2A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D490ED86-31A7-0D1A-DC66-3E01C298A9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F54D8B-C24E-4A38-872C-51AE8AAB1596}" type="datetimeFigureOut">
              <a:rPr lang="pt-BR" smtClean="0"/>
              <a:t>23/03/2026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02F7F012-DD68-A3DB-96B2-94EEA47C71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0124A1D0-16F7-BDD0-3523-AC114575DE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1E0F8-E50F-4610-ADCF-1B515671432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209052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FEF7BD7-5DAF-3650-8323-EAC87F665D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E1CA85D0-71CD-2DF6-9FCE-9D21EB2DE65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A8CC0BF7-F272-1628-B1DA-647CFE8C4FD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65203CF6-439D-BD37-1650-0216E9D0CAF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83CDF5A7-0BE4-7FC7-9FEE-A6D0F5413D9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51F0F69C-9078-B461-AAEA-F736A35396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F54D8B-C24E-4A38-872C-51AE8AAB1596}" type="datetimeFigureOut">
              <a:rPr lang="pt-BR" smtClean="0"/>
              <a:t>23/03/2026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3765A308-AE16-EEAD-6F63-2BFB1B29CE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77C9F770-0ADE-A808-4C03-7FE5E87865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1E0F8-E50F-4610-ADCF-1B515671432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965533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349048B-2616-23F9-CD83-17C4ADB943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B95B0E35-FDC8-A480-6602-499036649A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F54D8B-C24E-4A38-872C-51AE8AAB1596}" type="datetimeFigureOut">
              <a:rPr lang="pt-BR" smtClean="0"/>
              <a:t>23/03/2026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13C26ABB-FB19-552F-CF87-67988ABC28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FA01BD08-777A-6B4B-F11C-756E385C13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1E0F8-E50F-4610-ADCF-1B515671432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716191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4CA870A1-AD63-A9B5-30AA-AC625CB0DD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F54D8B-C24E-4A38-872C-51AE8AAB1596}" type="datetimeFigureOut">
              <a:rPr lang="pt-BR" smtClean="0"/>
              <a:t>23/03/2026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5E3800C0-FDA3-BE09-F12E-8746C877DC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B896681B-28AD-1230-B9C3-7437F0A666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1E0F8-E50F-4610-ADCF-1B515671432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502523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25A3BA6-A395-7661-D87F-5B3844F1EE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2DE55EC-7FD7-95FD-F82A-2E15390DF6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365FF9CC-7C01-A640-F26B-631A05CE5AC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542CD52E-AFB3-7BB9-77B8-DAC3E44CE7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F54D8B-C24E-4A38-872C-51AE8AAB1596}" type="datetimeFigureOut">
              <a:rPr lang="pt-BR" smtClean="0"/>
              <a:t>23/03/2026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37695FEF-2E72-9F9E-2949-89D05AAAD8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F5AF108F-FF59-E527-A8EB-BB1E5B1349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1E0F8-E50F-4610-ADCF-1B515671432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26182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09A7ACB-4546-478B-3B52-BA15C6BE1B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0FA7E330-9FD9-60A5-4122-BD769A825E6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6D439E46-CF64-91D1-533B-650A86D2F0A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1854137F-5A82-4442-97C1-3C8756F8A5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F54D8B-C24E-4A38-872C-51AE8AAB1596}" type="datetimeFigureOut">
              <a:rPr lang="pt-BR" smtClean="0"/>
              <a:t>23/03/2026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F927360B-71CB-6FBF-E1BD-00495DF5F0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D340C50D-00C1-3B19-1364-7614DE50D4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1E0F8-E50F-4610-ADCF-1B515671432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843433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886C74A-BBCA-5286-4879-EACE7274E0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F5865F5E-7155-3D9C-3B49-0596FA8BC2D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D48EB88-9161-E003-0318-D5D9D6D947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F54D8B-C24E-4A38-872C-51AE8AAB1596}" type="datetimeFigureOut">
              <a:rPr lang="pt-BR" smtClean="0"/>
              <a:t>23/03/2026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72EFCBA7-F1E3-9FB2-8751-431451938B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B81D631F-5290-41CC-43D8-19CD12373D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1E0F8-E50F-4610-ADCF-1B515671432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554902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A779F88B-E817-80EF-A8DD-222DD534445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EFACE327-4FB8-7CCC-6962-C2D31E59181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6C96CD61-F93F-257B-328A-16A145C77A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F54D8B-C24E-4A38-872C-51AE8AAB1596}" type="datetimeFigureOut">
              <a:rPr lang="pt-BR" smtClean="0"/>
              <a:t>23/03/2026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89AFCA00-020C-F526-244C-656944C48B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EE9DF7CB-3BA1-BBB3-F356-127A0643D3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1E0F8-E50F-4610-ADCF-1B515671432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25700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18577D00-6511-F354-AD6F-7C63F5CC81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ABB67735-522D-66A8-9551-2D99C9302F7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4B0B9F15-297C-24BD-820F-99EDDCE3CB3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DF54D8B-C24E-4A38-872C-51AE8AAB1596}" type="datetimeFigureOut">
              <a:rPr lang="pt-BR" smtClean="0"/>
              <a:t>23/03/2026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AAB1A380-787F-CE29-B320-358749165D1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D24DC9BE-EFB7-E81A-718D-EAF20B6D911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9A1E0F8-E50F-4610-ADCF-1B515671432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577472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935611B-C236-D326-1D7B-2960C6F3370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/>
              <a:t>Recursão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0643F40-D63D-3977-B011-D181CAC4B03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pt-BR" dirty="0"/>
              <a:t>chamada de uma função por ela mesma</a:t>
            </a:r>
          </a:p>
        </p:txBody>
      </p:sp>
    </p:spTree>
    <p:extLst>
      <p:ext uri="{BB962C8B-B14F-4D97-AF65-F5344CB8AC3E}">
        <p14:creationId xmlns:p14="http://schemas.microsoft.com/office/powerpoint/2010/main" val="33721735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51E57F5-015E-5C82-D1F0-D946DA353E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Exemplo de Utilização - Laços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818E44BD-7D3D-B99C-B430-13F0C3E9FEC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690688"/>
            <a:ext cx="10756769" cy="4351338"/>
          </a:xfrm>
        </p:spPr>
        <p:txBody>
          <a:bodyPr/>
          <a:lstStyle/>
          <a:p>
            <a:pPr algn="just"/>
            <a:r>
              <a:rPr lang="pt-BR" b="1" dirty="0"/>
              <a:t>Iteração Simples: </a:t>
            </a:r>
            <a:r>
              <a:rPr lang="pt-BR" dirty="0"/>
              <a:t>Se você precisa executar uma operação um número fixo de vezes ou percorrer uma coleção de elementos, como uma lista ou </a:t>
            </a:r>
            <a:r>
              <a:rPr lang="pt-BR" dirty="0" err="1"/>
              <a:t>array</a:t>
            </a:r>
            <a:r>
              <a:rPr lang="pt-BR" dirty="0"/>
              <a:t>, um loop é geralmente a escolha mais direta e eficiente.</a:t>
            </a:r>
          </a:p>
          <a:p>
            <a:pPr algn="just"/>
            <a:r>
              <a:rPr lang="pt-BR" dirty="0"/>
              <a:t>Exemplo:</a:t>
            </a:r>
          </a:p>
          <a:p>
            <a:pPr algn="just"/>
            <a:endParaRPr lang="pt-BR" dirty="0"/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19FAE8B9-B395-032B-51B0-75417ECF4915}"/>
              </a:ext>
            </a:extLst>
          </p:cNvPr>
          <p:cNvSpPr/>
          <p:nvPr/>
        </p:nvSpPr>
        <p:spPr>
          <a:xfrm>
            <a:off x="2696066" y="3429001"/>
            <a:ext cx="5948313" cy="2132814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F216A41F-23E4-57F3-E9B3-C7315C26CBA0}"/>
              </a:ext>
            </a:extLst>
          </p:cNvPr>
          <p:cNvSpPr txBox="1"/>
          <p:nvPr/>
        </p:nvSpPr>
        <p:spPr>
          <a:xfrm>
            <a:off x="2820971" y="3552715"/>
            <a:ext cx="8510047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400" b="0" dirty="0">
                <a:solidFill>
                  <a:srgbClr val="008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// Imprimir os números de 1 a 10</a:t>
            </a:r>
            <a:endParaRPr lang="pt-BR" sz="2400" b="0" dirty="0">
              <a:solidFill>
                <a:srgbClr val="000000"/>
              </a:solidFill>
              <a:effectLst/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pt-BR" sz="2400" b="0" dirty="0">
                <a:solidFill>
                  <a:srgbClr val="0000F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for</a:t>
            </a:r>
            <a:r>
              <a:rPr lang="pt-BR" sz="24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(</a:t>
            </a:r>
            <a:r>
              <a:rPr lang="pt-BR" sz="2400" b="0" dirty="0" err="1">
                <a:solidFill>
                  <a:srgbClr val="0000F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int</a:t>
            </a:r>
            <a:r>
              <a:rPr lang="pt-BR" sz="24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i = </a:t>
            </a:r>
            <a:r>
              <a:rPr lang="pt-BR" sz="2400" b="0" dirty="0">
                <a:solidFill>
                  <a:srgbClr val="098658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1</a:t>
            </a:r>
            <a:r>
              <a:rPr lang="pt-BR" sz="24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; i &lt;= </a:t>
            </a:r>
            <a:r>
              <a:rPr lang="pt-BR" sz="2400" b="0" dirty="0">
                <a:solidFill>
                  <a:srgbClr val="098658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10</a:t>
            </a:r>
            <a:r>
              <a:rPr lang="pt-BR" sz="24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; i++) {</a:t>
            </a:r>
          </a:p>
          <a:p>
            <a:r>
              <a:rPr lang="pt-BR" sz="24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   print(i);</a:t>
            </a:r>
          </a:p>
          <a:p>
            <a:r>
              <a:rPr lang="pt-BR" sz="24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31289572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51E57F5-015E-5C82-D1F0-D946DA353E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Exemplos de Utilização - Recursão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818E44BD-7D3D-B99C-B430-13F0C3E9FEC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690688"/>
            <a:ext cx="10756769" cy="4351338"/>
          </a:xfrm>
        </p:spPr>
        <p:txBody>
          <a:bodyPr/>
          <a:lstStyle/>
          <a:p>
            <a:pPr algn="just"/>
            <a:r>
              <a:rPr lang="pt-BR" b="1" dirty="0"/>
              <a:t>Problemas Divididos em Subproblemas Menores: </a:t>
            </a:r>
            <a:r>
              <a:rPr lang="pt-BR" dirty="0"/>
              <a:t>Em problemas onde a solução pode ser decomposta em subproblemas menores do mesmo tipo, a recursão é recomendada.</a:t>
            </a:r>
          </a:p>
          <a:p>
            <a:pPr algn="just"/>
            <a:r>
              <a:rPr lang="pt-BR" dirty="0"/>
              <a:t>Exemplo:</a:t>
            </a:r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C1AFF572-00F5-07FE-6B8B-DE747923AB3B}"/>
              </a:ext>
            </a:extLst>
          </p:cNvPr>
          <p:cNvSpPr/>
          <p:nvPr/>
        </p:nvSpPr>
        <p:spPr>
          <a:xfrm>
            <a:off x="2724347" y="3117916"/>
            <a:ext cx="8748074" cy="2217656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89A90134-7555-A3ED-24BE-3E0C4BCCE745}"/>
              </a:ext>
            </a:extLst>
          </p:cNvPr>
          <p:cNvSpPr txBox="1"/>
          <p:nvPr/>
        </p:nvSpPr>
        <p:spPr>
          <a:xfrm>
            <a:off x="2849252" y="3241630"/>
            <a:ext cx="8510047" cy="19082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200" b="0" dirty="0">
                <a:solidFill>
                  <a:srgbClr val="008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// Calcular o fatorial de um número de forma recursiva</a:t>
            </a:r>
            <a:endParaRPr lang="pt-BR" sz="2200" b="0" dirty="0">
              <a:solidFill>
                <a:srgbClr val="000000"/>
              </a:solidFill>
              <a:effectLst/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US" sz="2400" b="0" dirty="0">
                <a:solidFill>
                  <a:srgbClr val="0000F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float</a:t>
            </a:r>
            <a:r>
              <a:rPr lang="en-US" sz="24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fat (</a:t>
            </a:r>
            <a:r>
              <a:rPr lang="en-US" sz="2400" b="0" dirty="0">
                <a:solidFill>
                  <a:srgbClr val="0000F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int</a:t>
            </a:r>
            <a:r>
              <a:rPr lang="en-US" sz="24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n) {</a:t>
            </a:r>
          </a:p>
          <a:p>
            <a:r>
              <a:rPr lang="en-US" sz="24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    </a:t>
            </a:r>
            <a:r>
              <a:rPr lang="en-US" sz="2400" b="0" dirty="0">
                <a:solidFill>
                  <a:srgbClr val="0000F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if</a:t>
            </a:r>
            <a:r>
              <a:rPr lang="en-US" sz="24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(n &lt;= </a:t>
            </a:r>
            <a:r>
              <a:rPr lang="en-US" sz="2400" b="0" dirty="0">
                <a:solidFill>
                  <a:srgbClr val="098658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1</a:t>
            </a:r>
            <a:r>
              <a:rPr lang="en-US" sz="24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) </a:t>
            </a:r>
            <a:r>
              <a:rPr lang="en-US" sz="2400" b="0" dirty="0">
                <a:solidFill>
                  <a:srgbClr val="0000F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return</a:t>
            </a:r>
            <a:r>
              <a:rPr lang="en-US" sz="24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098658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1</a:t>
            </a:r>
            <a:r>
              <a:rPr lang="en-US" sz="24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;</a:t>
            </a:r>
          </a:p>
          <a:p>
            <a:r>
              <a:rPr lang="en-US" sz="24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    </a:t>
            </a:r>
            <a:r>
              <a:rPr lang="en-US" sz="2400" b="0" dirty="0">
                <a:solidFill>
                  <a:srgbClr val="0000F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return</a:t>
            </a:r>
            <a:r>
              <a:rPr lang="en-US" sz="24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n * fat(n-</a:t>
            </a:r>
            <a:r>
              <a:rPr lang="en-US" sz="2400" b="0" dirty="0">
                <a:solidFill>
                  <a:srgbClr val="098658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1</a:t>
            </a:r>
            <a:r>
              <a:rPr lang="en-US" sz="24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);</a:t>
            </a:r>
          </a:p>
          <a:p>
            <a:r>
              <a:rPr lang="en-US" sz="24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40240009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EEDE9FF-55B0-C223-4CE2-B771141CA9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1969" y="0"/>
            <a:ext cx="10515600" cy="1325563"/>
          </a:xfrm>
        </p:spPr>
        <p:txBody>
          <a:bodyPr/>
          <a:lstStyle/>
          <a:p>
            <a:r>
              <a:rPr lang="pt-BR" dirty="0"/>
              <a:t>Lógica do Fatorial com Recursão</a:t>
            </a:r>
          </a:p>
        </p:txBody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AB95C728-16B5-4A4F-47E1-AF4D2D3D9F78}"/>
              </a:ext>
            </a:extLst>
          </p:cNvPr>
          <p:cNvSpPr/>
          <p:nvPr/>
        </p:nvSpPr>
        <p:spPr>
          <a:xfrm>
            <a:off x="390543" y="4317476"/>
            <a:ext cx="5048722" cy="2420438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D5971AD5-38CB-62D9-4C1C-98ACEA4D989F}"/>
              </a:ext>
            </a:extLst>
          </p:cNvPr>
          <p:cNvSpPr txBox="1"/>
          <p:nvPr/>
        </p:nvSpPr>
        <p:spPr>
          <a:xfrm>
            <a:off x="454258" y="4429590"/>
            <a:ext cx="4985007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0" dirty="0">
                <a:solidFill>
                  <a:srgbClr val="0000F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float</a:t>
            </a:r>
            <a:r>
              <a:rPr lang="en-US" sz="24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fat (</a:t>
            </a:r>
            <a:r>
              <a:rPr lang="en-US" sz="2400" b="0" dirty="0">
                <a:solidFill>
                  <a:srgbClr val="0000F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int</a:t>
            </a:r>
            <a:r>
              <a:rPr lang="en-US" sz="24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n) {</a:t>
            </a:r>
          </a:p>
          <a:p>
            <a:r>
              <a:rPr lang="pt-BR" sz="2400" dirty="0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</a:t>
            </a:r>
            <a:r>
              <a:rPr lang="pt-BR" sz="2200" b="0" dirty="0">
                <a:solidFill>
                  <a:srgbClr val="008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// Parte1: Caso Base</a:t>
            </a:r>
            <a:endParaRPr lang="en-US" sz="2200" b="0" dirty="0">
              <a:solidFill>
                <a:srgbClr val="000000"/>
              </a:solidFill>
              <a:effectLst/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US" sz="24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    </a:t>
            </a:r>
            <a:r>
              <a:rPr lang="en-US" sz="2400" b="0" dirty="0">
                <a:solidFill>
                  <a:srgbClr val="0000F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if</a:t>
            </a:r>
            <a:r>
              <a:rPr lang="en-US" sz="24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(n &lt;= </a:t>
            </a:r>
            <a:r>
              <a:rPr lang="en-US" sz="2400" b="0" dirty="0">
                <a:solidFill>
                  <a:srgbClr val="098658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1</a:t>
            </a:r>
            <a:r>
              <a:rPr lang="en-US" sz="24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) </a:t>
            </a:r>
            <a:r>
              <a:rPr lang="en-US" sz="2400" b="0" dirty="0">
                <a:solidFill>
                  <a:srgbClr val="0000F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return</a:t>
            </a:r>
            <a:r>
              <a:rPr lang="en-US" sz="24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098658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1</a:t>
            </a:r>
            <a:r>
              <a:rPr lang="en-US" sz="24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;</a:t>
            </a:r>
          </a:p>
          <a:p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</a:t>
            </a:r>
            <a:r>
              <a:rPr lang="pt-BR" sz="2400" b="0" dirty="0">
                <a:solidFill>
                  <a:srgbClr val="008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// Parte2: Recursividade</a:t>
            </a:r>
            <a:endParaRPr lang="en-US" sz="2400" b="0" dirty="0">
              <a:solidFill>
                <a:srgbClr val="000000"/>
              </a:solidFill>
              <a:effectLst/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US" sz="24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    </a:t>
            </a:r>
            <a:r>
              <a:rPr lang="en-US" sz="2400" b="0" dirty="0">
                <a:solidFill>
                  <a:srgbClr val="0000F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return</a:t>
            </a:r>
            <a:r>
              <a:rPr lang="en-US" sz="24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n * fat(n-</a:t>
            </a:r>
            <a:r>
              <a:rPr lang="en-US" sz="2400" b="0" dirty="0">
                <a:solidFill>
                  <a:srgbClr val="098658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1</a:t>
            </a:r>
            <a:r>
              <a:rPr lang="en-US" sz="24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);</a:t>
            </a:r>
          </a:p>
          <a:p>
            <a:r>
              <a:rPr lang="en-US" sz="24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4483D3A9-6E48-AE0F-FF80-CC5E21F0A1CF}"/>
              </a:ext>
            </a:extLst>
          </p:cNvPr>
          <p:cNvSpPr txBox="1"/>
          <p:nvPr/>
        </p:nvSpPr>
        <p:spPr>
          <a:xfrm>
            <a:off x="195123" y="1845883"/>
            <a:ext cx="4687962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800" dirty="0"/>
              <a:t>Fat(n) = </a:t>
            </a:r>
          </a:p>
          <a:p>
            <a:pPr lvl="1"/>
            <a:r>
              <a:rPr lang="pt-BR" sz="2800" dirty="0"/>
              <a:t>1, se n &lt;= 1</a:t>
            </a:r>
          </a:p>
          <a:p>
            <a:pPr lvl="1"/>
            <a:r>
              <a:rPr lang="pt-BR" sz="2800" dirty="0"/>
              <a:t>n * Fat(n-1), se n&gt;1</a:t>
            </a:r>
          </a:p>
        </p:txBody>
      </p:sp>
      <p:pic>
        <p:nvPicPr>
          <p:cNvPr id="2050" name="Picture 2" descr="rec">
            <a:extLst>
              <a:ext uri="{FF2B5EF4-FFF2-40B4-BE49-F238E27FC236}">
                <a16:creationId xmlns:a16="http://schemas.microsoft.com/office/drawing/2014/main" id="{DBDF0341-9D89-9DC5-E144-F630D971354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02980" y="1325563"/>
            <a:ext cx="6346999" cy="50498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3552423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A4DA1D1-01F6-66A5-9D7E-3BA1A58C83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 err="1"/>
              <a:t>Fib</a:t>
            </a:r>
            <a:r>
              <a:rPr lang="pt-BR" dirty="0"/>
              <a:t>(n) = </a:t>
            </a:r>
          </a:p>
          <a:p>
            <a:pPr lvl="1"/>
            <a:r>
              <a:rPr lang="pt-BR" dirty="0"/>
              <a:t>1, se n&lt;=1</a:t>
            </a:r>
          </a:p>
          <a:p>
            <a:pPr lvl="1"/>
            <a:r>
              <a:rPr lang="pt-BR" dirty="0" err="1"/>
              <a:t>Fib</a:t>
            </a:r>
            <a:r>
              <a:rPr lang="pt-BR" dirty="0"/>
              <a:t>(n-1) + </a:t>
            </a:r>
            <a:r>
              <a:rPr lang="pt-BR" dirty="0" err="1"/>
              <a:t>Fib</a:t>
            </a:r>
            <a:r>
              <a:rPr lang="pt-BR" dirty="0"/>
              <a:t>(n-2)</a:t>
            </a:r>
          </a:p>
          <a:p>
            <a:pPr lvl="1"/>
            <a:endParaRPr lang="pt-BR" dirty="0"/>
          </a:p>
          <a:p>
            <a:endParaRPr lang="pt-BR" sz="2400" dirty="0"/>
          </a:p>
        </p:txBody>
      </p:sp>
      <p:pic>
        <p:nvPicPr>
          <p:cNvPr id="1028" name="Picture 4" descr="Mas o que car@%!0$ é Programação Dinâmica? | by Pedro Souza | Medium">
            <a:extLst>
              <a:ext uri="{FF2B5EF4-FFF2-40B4-BE49-F238E27FC236}">
                <a16:creationId xmlns:a16="http://schemas.microsoft.com/office/drawing/2014/main" id="{F699069E-26F8-F939-E2CF-2510C6BE184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73522" y="2639505"/>
            <a:ext cx="7346559" cy="32333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tângulo 3">
            <a:extLst>
              <a:ext uri="{FF2B5EF4-FFF2-40B4-BE49-F238E27FC236}">
                <a16:creationId xmlns:a16="http://schemas.microsoft.com/office/drawing/2014/main" id="{B38F1449-5B03-2200-B057-7ADA0F8FD9DF}"/>
              </a:ext>
            </a:extLst>
          </p:cNvPr>
          <p:cNvSpPr/>
          <p:nvPr/>
        </p:nvSpPr>
        <p:spPr>
          <a:xfrm>
            <a:off x="195123" y="3799763"/>
            <a:ext cx="4278399" cy="129106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4373FA13-E275-6CA6-8261-9CEE31C13776}"/>
              </a:ext>
            </a:extLst>
          </p:cNvPr>
          <p:cNvSpPr txBox="1"/>
          <p:nvPr/>
        </p:nvSpPr>
        <p:spPr>
          <a:xfrm>
            <a:off x="272592" y="3845128"/>
            <a:ext cx="4365395" cy="11339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spcAft>
                <a:spcPts val="800"/>
              </a:spcAft>
            </a:pPr>
            <a:r>
              <a:rPr lang="pt-BR" sz="1800" kern="0" dirty="0" err="1">
                <a:solidFill>
                  <a:srgbClr val="0000F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lang="pt-BR" sz="1800" kern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1800" kern="0" dirty="0" err="1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fib</a:t>
            </a:r>
            <a:r>
              <a:rPr lang="pt-BR" sz="1800" kern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pt-BR" sz="1800" kern="0" dirty="0" err="1">
                <a:solidFill>
                  <a:srgbClr val="0000F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lang="pt-BR" sz="1800" kern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n){</a:t>
            </a:r>
            <a:endParaRPr lang="pt-BR" sz="1800" kern="100" dirty="0">
              <a:effectLst/>
              <a:highlight>
                <a:srgbClr val="FFFFFF"/>
              </a:highlight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Aft>
                <a:spcPts val="800"/>
              </a:spcAft>
            </a:pPr>
            <a:r>
              <a:rPr lang="pt-BR" sz="1800" kern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   </a:t>
            </a:r>
            <a:r>
              <a:rPr lang="pt-BR" sz="1800" kern="0" dirty="0" err="1">
                <a:solidFill>
                  <a:srgbClr val="0000F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if</a:t>
            </a:r>
            <a:r>
              <a:rPr lang="pt-BR" sz="1800" kern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(n &lt;= </a:t>
            </a:r>
            <a:r>
              <a:rPr lang="pt-BR" sz="1800" kern="0" dirty="0">
                <a:solidFill>
                  <a:srgbClr val="098658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pt-BR" sz="1800" kern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r>
              <a:rPr lang="pt-BR" sz="1800" kern="0" dirty="0" err="1">
                <a:solidFill>
                  <a:srgbClr val="0000F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return</a:t>
            </a:r>
            <a:r>
              <a:rPr lang="pt-BR" sz="1800" kern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1800" kern="0" dirty="0">
                <a:solidFill>
                  <a:srgbClr val="098658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pt-BR" sz="1800" kern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endParaRPr lang="pt-BR" sz="1800" kern="100" dirty="0">
              <a:effectLst/>
              <a:highlight>
                <a:srgbClr val="FFFFFF"/>
              </a:highlight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Aft>
                <a:spcPts val="800"/>
              </a:spcAft>
            </a:pPr>
            <a:r>
              <a:rPr lang="pt-BR" sz="1800" kern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   </a:t>
            </a:r>
            <a:r>
              <a:rPr lang="pt-BR" sz="1800" kern="0" dirty="0" err="1">
                <a:solidFill>
                  <a:srgbClr val="0000F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return</a:t>
            </a:r>
            <a:r>
              <a:rPr lang="pt-BR" sz="1800" kern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1800" kern="0" dirty="0" err="1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fib</a:t>
            </a:r>
            <a:r>
              <a:rPr lang="pt-BR" sz="1800" kern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(n-</a:t>
            </a:r>
            <a:r>
              <a:rPr lang="pt-BR" sz="1800" kern="0" dirty="0">
                <a:solidFill>
                  <a:srgbClr val="098658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pt-BR" sz="1800" kern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) + </a:t>
            </a:r>
            <a:r>
              <a:rPr lang="pt-BR" sz="1800" kern="0" dirty="0" err="1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fib</a:t>
            </a:r>
            <a:r>
              <a:rPr lang="pt-BR" sz="1800" kern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(n-</a:t>
            </a:r>
            <a:r>
              <a:rPr lang="pt-BR" sz="1800" kern="0" dirty="0">
                <a:solidFill>
                  <a:srgbClr val="098658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pt-BR" sz="1800" kern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);</a:t>
            </a:r>
            <a:endParaRPr lang="pt-BR" sz="1800" kern="100" dirty="0">
              <a:effectLst/>
              <a:highlight>
                <a:srgbClr val="FFFFFF"/>
              </a:highlight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Aft>
                <a:spcPts val="800"/>
              </a:spcAft>
            </a:pPr>
            <a:r>
              <a:rPr lang="pt-BR" sz="1800" kern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endParaRPr lang="pt-BR" sz="1800" kern="100" dirty="0">
              <a:effectLst/>
              <a:highlight>
                <a:srgbClr val="FFFFFF"/>
              </a:highlight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9" name="Título 1">
            <a:extLst>
              <a:ext uri="{FF2B5EF4-FFF2-40B4-BE49-F238E27FC236}">
                <a16:creationId xmlns:a16="http://schemas.microsoft.com/office/drawing/2014/main" id="{A7EB3D17-B5B9-DE5C-0C16-3D5A31841A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1969" y="0"/>
            <a:ext cx="10515600" cy="1325563"/>
          </a:xfrm>
        </p:spPr>
        <p:txBody>
          <a:bodyPr/>
          <a:lstStyle/>
          <a:p>
            <a:r>
              <a:rPr lang="pt-BR" dirty="0"/>
              <a:t>Lógica de Fibonacci com Recursão</a:t>
            </a:r>
          </a:p>
        </p:txBody>
      </p:sp>
    </p:spTree>
    <p:extLst>
      <p:ext uri="{BB962C8B-B14F-4D97-AF65-F5344CB8AC3E}">
        <p14:creationId xmlns:p14="http://schemas.microsoft.com/office/powerpoint/2010/main" val="1940985072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671</TotalTime>
  <Words>287</Words>
  <Application>Microsoft Office PowerPoint</Application>
  <PresentationFormat>Widescreen</PresentationFormat>
  <Paragraphs>36</Paragraphs>
  <Slides>5</Slides>
  <Notes>1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5</vt:i4>
      </vt:variant>
    </vt:vector>
  </HeadingPairs>
  <TitlesOfParts>
    <vt:vector size="11" baseType="lpstr">
      <vt:lpstr>Aptos</vt:lpstr>
      <vt:lpstr>Aptos Display</vt:lpstr>
      <vt:lpstr>Arial</vt:lpstr>
      <vt:lpstr>Calibri</vt:lpstr>
      <vt:lpstr>Consolas</vt:lpstr>
      <vt:lpstr>Tema do Office</vt:lpstr>
      <vt:lpstr>Recursão</vt:lpstr>
      <vt:lpstr>Exemplo de Utilização - Laços</vt:lpstr>
      <vt:lpstr>Exemplos de Utilização - Recursão</vt:lpstr>
      <vt:lpstr>Lógica do Fatorial com Recursão</vt:lpstr>
      <vt:lpstr>Lógica de Fibonacci com Recursão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Recursão</dc:title>
  <dc:creator>ANDREIA CRISTINA GRISOLIO MACHION</dc:creator>
  <cp:lastModifiedBy>Evandro</cp:lastModifiedBy>
  <cp:revision>8</cp:revision>
  <dcterms:created xsi:type="dcterms:W3CDTF">2024-04-15T14:37:12Z</dcterms:created>
  <dcterms:modified xsi:type="dcterms:W3CDTF">2026-03-23T17:48:58Z</dcterms:modified>
</cp:coreProperties>
</file>